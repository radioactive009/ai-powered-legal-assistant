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54112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C8FF"/>
                </a:solidFill>
              </a:defRPr>
            </a:pPr>
            <a:r>
              <a:t>MULTI-AGENT AI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858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</a:defRPr>
            </a:pPr>
            <a:r>
              <a:t>AI Debate</a:t>
            </a:r>
            <a:br/>
            <a:r>
              <a:t>&amp; Hybrid</a:t>
            </a:r>
            <a:br/>
            <a: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0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A8C4D8"/>
                </a:solidFill>
              </a:defRPr>
            </a:pPr>
            <a:r>
              <a:t>A Framework for Objective Argumentation</a:t>
            </a:r>
            <a:br/>
            <a:r>
              <a:t>and Structured AI Decision-Making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52160"/>
            <a:ext cx="1463040" cy="411480"/>
          </a:xfrm>
          <a:prstGeom prst="roundRect">
            <a:avLst/>
          </a:prstGeom>
          <a:solidFill>
            <a:srgbClr val="0A4A6B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52160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C8FF"/>
                </a:solidFill>
              </a:defRPr>
            </a:pPr>
            <a:r>
              <a:t>Multi-Agent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5852160"/>
            <a:ext cx="1463040" cy="411480"/>
          </a:xfrm>
          <a:prstGeom prst="roundRect">
            <a:avLst/>
          </a:prstGeom>
          <a:solidFill>
            <a:srgbClr val="0A4A6B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5852160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C8FF"/>
                </a:solidFill>
              </a:defRPr>
            </a:pPr>
            <a:r>
              <a:t>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5852160"/>
            <a:ext cx="1463040" cy="411480"/>
          </a:xfrm>
          <a:prstGeom prst="roundRect">
            <a:avLst/>
          </a:prstGeom>
          <a:solidFill>
            <a:srgbClr val="0A4A6B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5852160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C8FF"/>
                </a:solidFill>
              </a:defRPr>
            </a:pPr>
            <a:r>
              <a:t>XAI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5852160"/>
            <a:ext cx="1463040" cy="411480"/>
          </a:xfrm>
          <a:prstGeom prst="roundRect">
            <a:avLst/>
          </a:prstGeom>
          <a:solidFill>
            <a:srgbClr val="0A4A6B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5852160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C8FF"/>
                </a:solidFill>
              </a:defRPr>
            </a:pPr>
            <a:r>
              <a:t>Hybrid Judge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C8FF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AI responses are opaque 'black boxes'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Impossible to trace why one argument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Standard judging is biased &amp; inconsistent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No structural accountability in reasoning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303520" cy="4389120"/>
          </a:xfrm>
          <a:prstGeom prst="rect">
            <a:avLst/>
          </a:prstGeom>
          <a:solidFill>
            <a:srgbClr val="111827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C8FF"/>
                </a:solidFill>
              </a:defRPr>
            </a:pPr>
            <a: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Multi-agent debate with structured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Point-Reason-Impact JSON schema enforced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Transparent 3-layer Hybrid Judge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663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XAI explainability on every decision made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C8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Multi-Agent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474720" cy="4572000"/>
          </a:xfrm>
          <a:prstGeom prst="rect">
            <a:avLst/>
          </a:prstGeom>
          <a:solidFill>
            <a:srgbClr val="11182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PRO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Advocates for the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39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Logical evidence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Structured JSON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Persuasive articulation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4572000"/>
          </a:xfrm>
          <a:prstGeom prst="rect">
            <a:avLst/>
          </a:prstGeom>
          <a:solidFill>
            <a:srgbClr val="0A1628"/>
          </a:solidFill>
          <a:ln>
            <a:solidFill>
              <a:srgbClr val="0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C8FF"/>
                </a:solidFill>
              </a:defRPr>
            </a:pPr>
            <a:r>
              <a:t>COMMUNICATION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860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JSON Schema 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7DD3FC"/>
                </a:solidFill>
              </a:defRPr>
            </a:pPr>
            <a:r>
              <a:t>{</a:t>
            </a:r>
            <a:br/>
            <a:r>
              <a:t>  "point": "...",</a:t>
            </a:r>
            <a:br/>
            <a:r>
              <a:t>  "reason": "...",</a:t>
            </a:r>
            <a:br/>
            <a:r>
              <a:t>  "impact": "..."</a:t>
            </a:r>
            <a:br/>
            <a: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474720" cy="4572000"/>
          </a:xfrm>
          <a:prstGeom prst="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CON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Identifies logical fallacies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91839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Surfaces risks &amp; weaknesses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023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Critical counter-arguments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754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Refutes Pro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</a:defRPr>
            </a:pPr>
            <a:r>
              <a:t>MEMORY &amp;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Retrieval-Augmented Generation (RAG)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57600" cy="4114800"/>
          </a:xfrm>
          <a:prstGeom prst="rect">
            <a:avLst/>
          </a:prstGeom>
          <a:solidFill>
            <a:srgbClr val="111827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FAISS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C8FF"/>
                </a:solidFill>
              </a:defRPr>
            </a:pPr>
            <a:r>
              <a:t>Vector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L2 similarity search for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657600" cy="4114800"/>
          </a:xfrm>
          <a:prstGeom prst="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384-D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840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Sentence-Transformer vectors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645920"/>
            <a:ext cx="3657600" cy="4114800"/>
          </a:xfrm>
          <a:prstGeom prst="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True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Dynamic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840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Real-time historical injection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HYBRID JUDGE · LAYER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Deterministic Rule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3657600" cy="3657600"/>
          </a:xfrm>
          <a:prstGeom prst="rect">
            <a:avLst/>
          </a:prstGeom>
          <a:solidFill>
            <a:srgbClr val="111827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C8FF"/>
                </a:solidFill>
              </a:defRPr>
            </a:pPr>
            <a:r>
              <a:t>Keyword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Scans for logic connectors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657600" cy="3657600"/>
          </a:xfrm>
          <a:prstGeom prst="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Length &amp;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Reasoning word count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011680"/>
            <a:ext cx="3657600" cy="3657600"/>
          </a:xfrm>
          <a:prstGeom prst="rect">
            <a:avLst/>
          </a:prstGeom>
          <a:solidFill>
            <a:srgbClr val="11182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Structural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JSON field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</a:defRPr>
            </a:pPr>
            <a:r>
              <a:t>HYBRID JUDGE · LAYER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Logistic Regression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400" b="1">
                <a:solidFill>
                  <a:srgbClr val="7C3AED"/>
                </a:solidFill>
              </a:defRPr>
            </a:pPr>
            <a:r>
              <a:t>91.7%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Model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Reasoning Ratio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2103120"/>
            <a:ext cx="4114800" cy="27432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2103120"/>
            <a:ext cx="3621024" cy="274320"/>
          </a:xfrm>
          <a:prstGeom prst="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108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Keyword Density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200400"/>
            <a:ext cx="4114800" cy="27432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00400"/>
            <a:ext cx="2962656" cy="274320"/>
          </a:xfrm>
          <a:prstGeom prst="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Structural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4297679"/>
            <a:ext cx="4114800" cy="27432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4297679"/>
            <a:ext cx="3744468" cy="274320"/>
          </a:xfrm>
          <a:prstGeom prst="rect">
            <a:avLst/>
          </a:prstGeom>
          <a:solidFill>
            <a:srgbClr val="16A3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C8FF"/>
                </a:solidFill>
              </a:defRPr>
            </a:pPr>
            <a:r>
              <a:t>HYBRID JUDGE · LAYER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LLM Semantic Tie-Breaker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36576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C8FF"/>
                </a:solidFill>
              </a:defRPr>
            </a:pPr>
            <a:r>
              <a:t>DEADLOCK DETECTED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2286000"/>
            <a:ext cx="36576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2926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C8FF"/>
                </a:solidFill>
              </a:defRPr>
            </a:pPr>
            <a:r>
              <a:t>PHI-3 LLM CALLED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2286000"/>
            <a:ext cx="36576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926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C8FF"/>
                </a:solidFill>
              </a:defRPr>
            </a:pPr>
            <a:r>
              <a:t>VERDICT DELIVERED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Explainable AI (XAI) with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SHAP Waterfall Plot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Pro Reason Length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2743200"/>
            <a:ext cx="2084832" cy="365760"/>
          </a:xfrm>
          <a:prstGeom prst="rect">
            <a:avLst/>
          </a:prstGeom>
          <a:solidFill>
            <a:srgbClr val="16A3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Keyword Density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3474720"/>
            <a:ext cx="1316736" cy="365760"/>
          </a:xfrm>
          <a:prstGeom prst="rect">
            <a:avLst/>
          </a:prstGeom>
          <a:solidFill>
            <a:srgbClr val="16A3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Con Word 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4206240"/>
            <a:ext cx="822959" cy="365760"/>
          </a:xfrm>
          <a:prstGeom prst="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C8FF"/>
                </a:solidFill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Fine-Tuning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LoRA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1,600+ Samples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91440" cy="10972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</a:defRPr>
            </a:pPr>
            <a:r>
              <a:t>BLEU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0.74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9144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ROUGE-L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0.81 Precision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00C8FF"/>
                </a:solidFill>
              </a:defRPr>
            </a:pPr>
            <a:r>
              <a:t>Real-World</a:t>
            </a:r>
            <a:br/>
            <a:r>
              <a:t>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457200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⚖ Legal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457200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2335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🎓 Academic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663440"/>
            <a:ext cx="457200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5487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💼 Executive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Not just intelligent —</a:t>
            </a:r>
            <a:br/>
            <a:r>
              <a:t>also objective,</a:t>
            </a:r>
            <a:br/>
            <a:r>
              <a:t>transparent &amp;</a:t>
            </a:r>
            <a:br/>
            <a:r>
              <a:t>auditable.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